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3c8a2486474d16" /><Relationship Type="http://schemas.openxmlformats.org/officeDocument/2006/relationships/extended-properties" Target="/docProps/app.xml" Id="R8807fb9214064281" /><Relationship Type="http://schemas.openxmlformats.org/officeDocument/2006/relationships/officeDocument" Target="/ppt/presentation.xml" Id="R409e82820b5346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dfea9f522a472d"/>
  </p:sldMasterIdLst>
  <p:notesMasterIdLst>
    <p:notesMasterId xmlns:r="http://schemas.openxmlformats.org/officeDocument/2006/relationships" r:id="R0b53b78a6c324aa5"/>
  </p:notesMasterIdLst>
  <p:sldIdLst>
    <p:sldId xmlns:r="http://schemas.openxmlformats.org/officeDocument/2006/relationships" id="256" r:id="R696504aff2414399"/>
    <p:sldId xmlns:r="http://schemas.openxmlformats.org/officeDocument/2006/relationships" id="257" r:id="R376d48d8ffc34d9b"/>
    <p:sldId xmlns:r="http://schemas.openxmlformats.org/officeDocument/2006/relationships" id="258" r:id="Rf3b05abca8d74d3d"/>
    <p:sldId xmlns:r="http://schemas.openxmlformats.org/officeDocument/2006/relationships" id="259" r:id="Rc90fd03593c14170"/>
    <p:sldId xmlns:r="http://schemas.openxmlformats.org/officeDocument/2006/relationships" id="260" r:id="R404867d92a5d40f7"/>
    <p:sldId xmlns:r="http://schemas.openxmlformats.org/officeDocument/2006/relationships" id="261" r:id="R1430be9d29694baf"/>
    <p:sldId xmlns:r="http://schemas.openxmlformats.org/officeDocument/2006/relationships" id="262" r:id="R3e38137524774053"/>
    <p:sldId xmlns:r="http://schemas.openxmlformats.org/officeDocument/2006/relationships" id="263" r:id="Rac7bfc86c4954033"/>
    <p:sldId xmlns:r="http://schemas.openxmlformats.org/officeDocument/2006/relationships" id="264" r:id="Rbb411d6f37de41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973ae60d60428f" /><Relationship Type="http://schemas.openxmlformats.org/officeDocument/2006/relationships/slideMaster" Target="/ppt/slideMasters/slideMaster1.xml" Id="Rf1dfea9f522a472d" /><Relationship Type="http://schemas.openxmlformats.org/officeDocument/2006/relationships/notesMaster" Target="/ppt/notesMasters/notesMaster1.xml" Id="R0b53b78a6c324aa5" /><Relationship Type="http://schemas.openxmlformats.org/officeDocument/2006/relationships/presProps" Target="/ppt/presProps.xml" Id="Rebe66073a84243b7" /><Relationship Type="http://schemas.openxmlformats.org/officeDocument/2006/relationships/tableStyles" Target="/ppt/tableStyles.xml" Id="R90b903bb8c824326" /><Relationship Type="http://schemas.openxmlformats.org/officeDocument/2006/relationships/slide" Target="/ppt/slides/slide1.xml" Id="R696504aff2414399" /><Relationship Type="http://schemas.openxmlformats.org/officeDocument/2006/relationships/slide" Target="/ppt/slides/slide2.xml" Id="R376d48d8ffc34d9b" /><Relationship Type="http://schemas.openxmlformats.org/officeDocument/2006/relationships/slide" Target="/ppt/slides/slide3.xml" Id="Rf3b05abca8d74d3d" /><Relationship Type="http://schemas.openxmlformats.org/officeDocument/2006/relationships/slide" Target="/ppt/slides/slide4.xml" Id="Rc90fd03593c14170" /><Relationship Type="http://schemas.openxmlformats.org/officeDocument/2006/relationships/slide" Target="/ppt/slides/slide5.xml" Id="R404867d92a5d40f7" /><Relationship Type="http://schemas.openxmlformats.org/officeDocument/2006/relationships/slide" Target="/ppt/slides/slide6.xml" Id="R1430be9d29694baf" /><Relationship Type="http://schemas.openxmlformats.org/officeDocument/2006/relationships/slide" Target="/ppt/slides/slide7.xml" Id="R3e38137524774053" /><Relationship Type="http://schemas.openxmlformats.org/officeDocument/2006/relationships/slide" Target="/ppt/slides/slide8.xml" Id="Rac7bfc86c4954033" /><Relationship Type="http://schemas.openxmlformats.org/officeDocument/2006/relationships/slide" Target="/ppt/slides/slide9.xml" Id="Rbb411d6f37de41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9583a0c0c140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ad7b39e76e4427" /><Relationship Type="http://schemas.openxmlformats.org/officeDocument/2006/relationships/notesMaster" Target="/ppt/notesMasters/notesMaster1.xml" Id="Rde3f713dd82a46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6bc2483b8e4425" /><Relationship Type="http://schemas.openxmlformats.org/officeDocument/2006/relationships/notesMaster" Target="/ppt/notesMasters/notesMaster1.xml" Id="R04f4354554404f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b79919694448a7" /><Relationship Type="http://schemas.openxmlformats.org/officeDocument/2006/relationships/notesMaster" Target="/ppt/notesMasters/notesMaster1.xml" Id="R637b43d51fc549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c696410415430f" /><Relationship Type="http://schemas.openxmlformats.org/officeDocument/2006/relationships/notesMaster" Target="/ppt/notesMasters/notesMaster1.xml" Id="R42aa67b213714b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e208214a794ea0" /><Relationship Type="http://schemas.openxmlformats.org/officeDocument/2006/relationships/notesMaster" Target="/ppt/notesMasters/notesMaster1.xml" Id="R5cce0481a5684d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7ec95dce4645e0" /><Relationship Type="http://schemas.openxmlformats.org/officeDocument/2006/relationships/notesMaster" Target="/ppt/notesMasters/notesMaster1.xml" Id="Rdf016f1142134f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74d8350f3646a2" /><Relationship Type="http://schemas.openxmlformats.org/officeDocument/2006/relationships/notesMaster" Target="/ppt/notesMasters/notesMaster1.xml" Id="R904405ecf67f4a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923dd2b8e443ab" /><Relationship Type="http://schemas.openxmlformats.org/officeDocument/2006/relationships/notesMaster" Target="/ppt/notesMasters/notesMaster1.xml" Id="R9fb953b6fa4e44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a4771f81714147" /><Relationship Type="http://schemas.openxmlformats.org/officeDocument/2006/relationships/notesMaster" Target="/ppt/notesMasters/notesMaster1.xml" Id="Rb857afd6199e47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abrir una conversación inicial con el equipo de Clínica Armonía de Vida.</a:t>
            </a:r>
          </a:p>
          <a:p xmlns:a="http://schemas.openxmlformats.org/drawingml/2006/main">
            <a:r>
              <a:t>La presentación evita vender la app como terapia o diagnóstico; la posiciona como apoyo complementario.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Contexto y screenshots proporcionados por el usuario.</a:t>
            </a:r>
          </a:p>
          <a:p xmlns:a="http://schemas.openxmlformats.org/drawingml/2006/main">
            <a:r>
              <a:t>- Funcionalidades revisadas en el proyecto local de la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diapositiva plantea el problema de uso: apoyo inicial y registro sencillo en momentos de malestar.</a:t>
            </a:r>
          </a:p>
          <a:p xmlns:a="http://schemas.openxmlformats.org/drawingml/2006/main">
            <a:r>
              <a:t>No se afirma eficacia clínica; se plantea utilidad potencial para acompañamiento y observación.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Mensaje central para el personal clínico: la app no compite con el rol profesional; lo complementa con orientación inicial y seguimiento.</a:t>
            </a:r>
          </a:p>
          <a:p xmlns:a="http://schemas.openxmlformats.org/drawingml/2006/main">
            <a:r>
              <a:t>El texto de alcance aparece dentro de la app en consentimiento e inicio.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Proyecto local: README.md, app/(tabs)/consent.tsx, app/(tabs)/index.tsx.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flujo resume la lógica implementada en el MVP actual.</a:t>
            </a:r>
          </a:p>
          <a:p xmlns:a="http://schemas.openxmlformats.org/drawingml/2006/main">
            <a:r>
              <a:t>La ruta de emergencia aparece como salida clara, no como un paso tardío escondido.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Proyecto local: app/(tabs)/survey.tsx, app/(tabs)/results.tsx, app/(tabs)/exercises/[id].tsx, app/(tabs)/emergency.tsx.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esta diapositiva para mostrar que no es solo una idea conceptual; ya existe un MVP navegable.</a:t>
            </a:r>
          </a:p>
          <a:p xmlns:a="http://schemas.openxmlformats.org/drawingml/2006/main">
            <a:r>
              <a:t>Las capturas son del estado visual compartido por el usuario.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Screenshots proporcionados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diapositiva da seguridad académica sin saturar al personal con teoría.</a:t>
            </a:r>
          </a:p>
          <a:p xmlns:a="http://schemas.openxmlformats.org/drawingml/2006/main">
            <a:r>
              <a:t>Importante decirlo así: el PHQ-4 orienta, no diagnostica por sí solo dentro de la app.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WHO. Psychological first aid: Guide for field workers. https://www.who.int/publications/i/item/9789241548205</a:t>
            </a:r>
          </a:p>
          <a:p xmlns:a="http://schemas.openxmlformats.org/drawingml/2006/main">
            <a:r>
              <a:t>- Hobfoll et al. (2007). Five essential elements of immediate and mid-term mass trauma intervention. https://pubmed.ncbi.nlm.nih.gov/18181708/</a:t>
            </a:r>
          </a:p>
          <a:p xmlns:a="http://schemas.openxmlformats.org/drawingml/2006/main">
            <a:r>
              <a:t>- Löwe et al. (2009). Patient Health Questionnaire-4 validation. https://pubmed.ncbi.nlm.nih.gov/19616305/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diapositiva responde una pregunta esperable del personal: ¿qué pasa si el usuario está en crisis?</a:t>
            </a:r>
          </a:p>
          <a:p xmlns:a="http://schemas.openxmlformats.org/drawingml/2006/main">
            <a:r>
              <a:t>La app no promete atención de emergencia automatizada; facilita rutas de apoyo y orienta a buscar ayuda.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Proyecto local: app/(tabs)/emergency.tsx, app/(tabs)/safety-plan.tsx, app/(tabs)/privacy-data.tsx.</a:t>
            </a:r>
          </a:p>
          <a:p xmlns:a="http://schemas.openxmlformats.org/drawingml/2006/main">
            <a:r>
              <a:t>- Línea de la Vida, CONASAMA/gob.mx: https://www.gob.mx/conasama/articulos/linea-de-la-vida-800-911-2000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Aquí conviene pedir retroalimentación, no aprobación final inmediata.</a:t>
            </a:r>
          </a:p>
          <a:p xmlns:a="http://schemas.openxmlformats.org/drawingml/2006/main">
            <a:r>
              <a:t>El piloto debe definirse con criterios éticos, población, consentimiento y límites de uso.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Contexto proporcionado por el usuario sobre Clínica Armonía de Vida y propósito de tesis.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 sugerido: abrir la puerta a preguntas y dejar claro que la versión actual es un MVP para revisión y posible piloto.</a:t>
            </a:r>
          </a:p>
          <a:p xmlns:a="http://schemas.openxmlformats.org/drawingml/2006/main">
            <a:r>
              <a:t>No cerrar con una solicitud pesada; pedir una siguiente conversación concreta.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a7e549484244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01563b6ff440cb" /><Relationship Type="http://schemas.openxmlformats.org/officeDocument/2006/relationships/slideLayout" Target="/ppt/slideLayouts/slideLayout1.xml" Id="R2bb2ab2a7c0849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b2ab2a7c0849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5da2b8c8b458a" /><Relationship Type="http://schemas.openxmlformats.org/officeDocument/2006/relationships/image" Target="/ppt/media/image.png" Id="Re60c64ae397b4b24" /><Relationship Type="http://schemas.openxmlformats.org/officeDocument/2006/relationships/notesSlide" Target="/ppt/notesSlides/notesSlide1.xml" Id="R50411c4782b643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9068e314a43dd" /><Relationship Type="http://schemas.openxmlformats.org/officeDocument/2006/relationships/notesSlide" Target="/ppt/notesSlides/notesSlide2.xml" Id="R52c269f5007247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7d12d706a4e45" /><Relationship Type="http://schemas.openxmlformats.org/officeDocument/2006/relationships/notesSlide" Target="/ppt/notesSlides/notesSlide3.xml" Id="R326a5e315d3549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274ecbae34bc9" /><Relationship Type="http://schemas.openxmlformats.org/officeDocument/2006/relationships/notesSlide" Target="/ppt/notesSlides/notesSlide4.xml" Id="R0df66676ffaa45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689130d5741c3" /><Relationship Type="http://schemas.openxmlformats.org/officeDocument/2006/relationships/image" Target="/ppt/media/image2.png" Id="R84a7bdaf6e22432f" /><Relationship Type="http://schemas.openxmlformats.org/officeDocument/2006/relationships/image" Target="/ppt/media/image3.png" Id="R1eaab35974904f75" /><Relationship Type="http://schemas.openxmlformats.org/officeDocument/2006/relationships/image" Target="/ppt/media/image4.png" Id="R97e238bdba2644a0" /><Relationship Type="http://schemas.openxmlformats.org/officeDocument/2006/relationships/notesSlide" Target="/ppt/notesSlides/notesSlide5.xml" Id="R016c6901979042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1b2c75f5f43dc" /><Relationship Type="http://schemas.openxmlformats.org/officeDocument/2006/relationships/notesSlide" Target="/ppt/notesSlides/notesSlide6.xml" Id="R770dbc99b23340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0d0827efc40e6" /><Relationship Type="http://schemas.openxmlformats.org/officeDocument/2006/relationships/notesSlide" Target="/ppt/notesSlides/notesSlide7.xml" Id="R4d83e75dd5d743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48c07715f430a" /><Relationship Type="http://schemas.openxmlformats.org/officeDocument/2006/relationships/notesSlide" Target="/ppt/notesSlides/notesSlide8.xml" Id="R22cdefdbe11449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99290bd7f49f1" /><Relationship Type="http://schemas.openxmlformats.org/officeDocument/2006/relationships/notesSlide" Target="/ppt/notesSlides/notesSlide9.xml" Id="Ra8f71b33637840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C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7535A6-3DA5-441D-A4AD-849161C9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78105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8FA"/>
          </a:solidFill>
          <a:ln xmlns:a="http://schemas.openxmlformats.org/drawingml/2006/main" w="0">
            <a:solidFill>
              <a:srgbClr val="DF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3689B-5DBE-4784-AF73-14DAF8D7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908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33B80-CF8F-4DF2-8697-57ABFBE2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2476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EAF6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2DC58-AC30-45B4-910D-CD0F96A9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90575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7A83"/>
                </a:solidFill>
              </a:defRPr>
            </a:pPr>
            <a:r>
              <a:rPr sz="975" b="1">
                <a:solidFill>
                  <a:srgbClr val="1F7A83"/>
                </a:solidFill>
              </a:rPr>
              <a:t>PROPUESTA DE COLABORACIÓN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E3FE5-575F-4AA4-B580-DC8E0786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43447"/>
                </a:solidFill>
              </a:defRPr>
            </a:pPr>
            <a:r>
              <a:rPr sz="4050" b="1">
                <a:solidFill>
                  <a:srgbClr val="243447"/>
                </a:solidFill>
              </a:rPr>
              <a:t>Primeros Auxilios</a:t>
            </a:r>
          </a:p>
          <a:p xmlns:a="http://schemas.openxmlformats.org/drawingml/2006/main">
            <a:pPr>
              <a:defRPr sz="4050" b="1">
                <a:solidFill>
                  <a:srgbClr val="243447"/>
                </a:solidFill>
              </a:defRPr>
            </a:pPr>
            <a:r>
              <a:rPr sz="4050" b="1">
                <a:solidFill>
                  <a:srgbClr val="243447"/>
                </a:solidFill>
              </a:rPr>
              <a:t>Emocionales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F5AA7-E806-427F-9314-8D4780B2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600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788A"/>
                </a:solidFill>
              </a:defRPr>
            </a:pPr>
            <a:r>
              <a:rPr sz="1800" b="0">
                <a:solidFill>
                  <a:srgbClr val="66788A"/>
                </a:solidFill>
              </a:rPr>
              <a:t>Aplicación móvil de apoyo inicial, autorregulación y orientación ante malestar emocional.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35742-9EBA-4D6C-A0D8-23967159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7A83"/>
                </a:solidFill>
              </a:defRPr>
            </a:pPr>
            <a:r>
              <a:rPr sz="1500" b="1">
                <a:solidFill>
                  <a:srgbClr val="1F7A83"/>
                </a:solidFill>
              </a:rPr>
              <a:t>Presentación inicial para Mtra. Jéssica Garza y equipo de Clínica Armonía de Vida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D34F4-0AFA-4320-9712-4BD79B76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57250"/>
            <a:ext cx="2419350" cy="4171950"/>
          </a:xfrm>
          <a:prstGeom xmlns:a="http://schemas.openxmlformats.org/drawingml/2006/main" prst="roundRect">
            <a:avLst>
              <a:gd name="adj" fmla="val 9449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c64ae397b4b24"/>
          <a:stretch xmlns:a="http://schemas.openxmlformats.org/drawingml/2006/main"/>
        </p:blipFill>
        <p:spPr>
          <a:xfrm xmlns:a="http://schemas.openxmlformats.org/drawingml/2006/main">
            <a:off x="8214777" y="990600"/>
            <a:ext cx="1801297" cy="3905250"/>
          </a:xfrm>
          <a:prstGeom xmlns:a="http://schemas.openxmlformats.org/drawingml/2006/main" prst="roundRect">
            <a:avLst>
              <a:gd name="adj" fmla="val 695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E109D2-8FF8-415F-A8AF-A928FF74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A8B9B"/>
                </a:solidFill>
              </a:defRPr>
            </a:pPr>
            <a:r>
              <a:rPr sz="975" b="0">
                <a:solidFill>
                  <a:srgbClr val="7A8B9B"/>
                </a:solidFill>
              </a:rPr>
              <a:t>Primeros Auxilios Emocionales · Clínica Armonía de Vida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18EF0-BC96-4D1E-9755-92BF064D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8B9B"/>
                </a:solidFill>
              </a:defRPr>
            </a:pPr>
            <a:r>
              <a:rPr sz="975" b="1">
                <a:solidFill>
                  <a:srgbClr val="7A8B9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42518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38D035-7209-484E-94CA-918FC8C3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43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8FA"/>
          </a:solidFill>
          <a:ln xmlns:a="http://schemas.openxmlformats.org/drawingml/2006/main" w="0">
            <a:solidFill>
              <a:srgbClr val="DF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1205B-EEB7-4FC5-A48B-CDBC57C4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55816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45BBF7-B8CB-48B8-A031-91D9F4B8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83"/>
                </a:solidFill>
              </a:defRPr>
            </a:pPr>
            <a:r>
              <a:rPr sz="975" b="1">
                <a:solidFill>
                  <a:srgbClr val="1F7A83"/>
                </a:solidFill>
              </a:rPr>
              <a:t>OPORTUNIDAD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06A74-EFCB-43A4-852F-FD4B572C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90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43447"/>
                </a:solidFill>
              </a:defRPr>
            </a:pPr>
            <a:r>
              <a:rPr sz="2925" b="1">
                <a:solidFill>
                  <a:srgbClr val="243447"/>
                </a:solidFill>
              </a:rPr>
              <a:t>Hay momentos de malestar que ocurren fuera del consultorio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A14F4-8325-4446-81AD-312B856A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788A"/>
                </a:solidFill>
              </a:defRPr>
            </a:pPr>
            <a:r>
              <a:rPr sz="1650" b="0">
                <a:solidFill>
                  <a:srgbClr val="66788A"/>
                </a:solidFill>
              </a:rPr>
              <a:t>La app propone una primera orientación estructurada para esos momentos, con límites claros y salida a ayuda urgente.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CA044-5D5F-4A6E-A4A9-B9730E6C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A8B9B"/>
                </a:solidFill>
              </a:defRPr>
            </a:pPr>
            <a:r>
              <a:rPr sz="975" b="0">
                <a:solidFill>
                  <a:srgbClr val="7A8B9B"/>
                </a:solidFill>
              </a:rPr>
              <a:t>Primeros Auxilios Emocionales · Clínica Armonía de Vida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CC2E95-1CD1-40CC-ACCF-B18D806D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8B9B"/>
                </a:solidFill>
              </a:defRPr>
            </a:pPr>
            <a:r>
              <a:rPr sz="975" b="1">
                <a:solidFill>
                  <a:srgbClr val="7A8B9B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5C6EBD-8F12-4FB9-9AD9-70D6489A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31813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8B3C21-AE1A-4530-A097-799F0526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3447"/>
                </a:solidFill>
              </a:defRPr>
            </a:pPr>
            <a:r>
              <a:rPr sz="1800" b="1">
                <a:solidFill>
                  <a:srgbClr val="243447"/>
                </a:solidFill>
              </a:rPr>
              <a:t>Entre sesiones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D826D-0276-4823-84E6-D8D5251C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88A"/>
                </a:solidFill>
              </a:defRPr>
            </a:pPr>
            <a:r>
              <a:rPr sz="1350" b="0">
                <a:solidFill>
                  <a:srgbClr val="66788A"/>
                </a:solidFill>
              </a:rPr>
              <a:t>Una persona puede necesitar una pausa guiada antes de su próxima cita.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2FDD3-4CE7-4796-A104-EABCDE7E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48000"/>
            <a:ext cx="31813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1AFDA1-3926-47D9-83AF-F4505560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956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3447"/>
                </a:solidFill>
              </a:defRPr>
            </a:pPr>
            <a:r>
              <a:rPr sz="1800" b="1">
                <a:solidFill>
                  <a:srgbClr val="243447"/>
                </a:solidFill>
              </a:rPr>
              <a:t>En momentos de ansiedad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DFE500-3778-492B-9240-B96E580F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9095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88A"/>
                </a:solidFill>
              </a:defRPr>
            </a:pPr>
            <a:r>
              <a:rPr sz="1350" b="0">
                <a:solidFill>
                  <a:srgbClr val="66788A"/>
                </a:solidFill>
              </a:rPr>
              <a:t>Respirar, anclarse al presente o nombrar lo que siente puede ayudar a estabilizarse.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9FED96-6147-474F-9163-C7D5BF7B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48000"/>
            <a:ext cx="31813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EEEFCB-791F-4B23-ACB1-E8A7E3C8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956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3447"/>
                </a:solidFill>
              </a:defRPr>
            </a:pPr>
            <a:r>
              <a:rPr sz="1800" b="1">
                <a:solidFill>
                  <a:srgbClr val="243447"/>
                </a:solidFill>
              </a:rPr>
              <a:t>Para observar cambios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6D55F0-9A0B-41AF-8DC7-83B71C8D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9095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88A"/>
                </a:solidFill>
              </a:defRPr>
            </a:pPr>
            <a:r>
              <a:rPr sz="1350" b="0">
                <a:solidFill>
                  <a:srgbClr val="66788A"/>
                </a:solidFill>
              </a:rPr>
              <a:t>El seguimiento antes/después permite revisar utilidad percibida de las intervenciones.</a:t>
            </a:r>
          </a:p>
        </p:txBody>
      </p:sp>
    </p:spTree>
    <p:extLst>
      <p:ext uri="{BB962C8B-B14F-4D97-AF65-F5344CB8AC3E}">
        <p14:creationId xmlns:p14="http://schemas.microsoft.com/office/powerpoint/2010/main" val="21231860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24FEA8-3F32-49A1-9E80-DB307674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43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8FA"/>
          </a:solidFill>
          <a:ln xmlns:a="http://schemas.openxmlformats.org/drawingml/2006/main" w="0">
            <a:solidFill>
              <a:srgbClr val="DF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5B203-98F0-469A-B6B3-2F841FD2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55816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6E146-4F9A-4CB6-970E-6F647886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83"/>
                </a:solidFill>
              </a:defRPr>
            </a:pPr>
            <a:r>
              <a:rPr sz="975" b="1">
                <a:solidFill>
                  <a:srgbClr val="1F7A83"/>
                </a:solidFill>
              </a:rPr>
              <a:t>ALCANCE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91869-423C-4DD0-8173-B26855DF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90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43447"/>
                </a:solidFill>
              </a:defRPr>
            </a:pPr>
            <a:r>
              <a:rPr sz="2925" b="1">
                <a:solidFill>
                  <a:srgbClr val="243447"/>
                </a:solidFill>
              </a:rPr>
              <a:t>La app acompaña el primer momento; no reemplaza la atención profesional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ECC12-A1ED-4084-AE1F-F18AD35D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788A"/>
                </a:solidFill>
              </a:defRPr>
            </a:pPr>
            <a:r>
              <a:rPr sz="1650" b="0">
                <a:solidFill>
                  <a:srgbClr val="66788A"/>
                </a:solidFill>
              </a:rPr>
              <a:t>La propuesta se sostiene en un límite ético explícito: orientación y autorregulación, no diagnóstico ni psicoterapia.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6748A-FDCF-4D17-9C7E-6DFB3CF4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A8B9B"/>
                </a:solidFill>
              </a:defRPr>
            </a:pPr>
            <a:r>
              <a:rPr sz="975" b="0">
                <a:solidFill>
                  <a:srgbClr val="7A8B9B"/>
                </a:solidFill>
              </a:rPr>
              <a:t>Primeros Auxilios Emocionales · Clínica Armonía de Vida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D88DB-30D2-422A-BCA1-A2E51D47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8B9B"/>
                </a:solidFill>
              </a:defRPr>
            </a:pPr>
            <a:r>
              <a:rPr sz="975" b="1">
                <a:solidFill>
                  <a:srgbClr val="7A8B9B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7B0341-8EE0-43CB-8522-579B71EA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4629150" cy="22669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F5A543-37E9-46EC-9D65-950A88E0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861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7A83"/>
                </a:solidFill>
              </a:defRPr>
            </a:pPr>
            <a:r>
              <a:rPr sz="2100" b="1">
                <a:solidFill>
                  <a:srgbClr val="1F7A83"/>
                </a:solidFill>
              </a:rPr>
              <a:t>Sí busca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FA8FB-1672-4B2E-B053-265FB7E7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E2"/>
          </a:solidFill>
          <a:ln xmlns:a="http://schemas.openxmlformats.org/drawingml/2006/main" w="9525">
            <a:solidFill>
              <a:srgbClr val="4A90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8D612D-68ED-4472-8D15-FB7678CA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576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43447"/>
                </a:solidFill>
              </a:defRPr>
            </a:pPr>
            <a:r>
              <a:rPr sz="1425" b="0">
                <a:solidFill>
                  <a:srgbClr val="243447"/>
                </a:solidFill>
              </a:rPr>
              <a:t>Identificar cómo se siente la persona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D07C16-867D-497E-B999-A251A5EE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5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E2"/>
          </a:solidFill>
          <a:ln xmlns:a="http://schemas.openxmlformats.org/drawingml/2006/main" w="9525">
            <a:solidFill>
              <a:srgbClr val="4A90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B19A4A-F21C-40CF-B6F9-ED1A87BF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43447"/>
                </a:solidFill>
              </a:defRPr>
            </a:pPr>
            <a:r>
              <a:rPr sz="1425" b="0">
                <a:solidFill>
                  <a:srgbClr val="243447"/>
                </a:solidFill>
              </a:rPr>
              <a:t>Sugerir ejercicios breves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5F9312-B6B6-47A2-98EB-A7AE6601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91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E2"/>
          </a:solidFill>
          <a:ln xmlns:a="http://schemas.openxmlformats.org/drawingml/2006/main" w="9525">
            <a:solidFill>
              <a:srgbClr val="4A90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938799-C36A-4D4F-A690-34F7CE5F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339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43447"/>
                </a:solidFill>
              </a:defRPr>
            </a:pPr>
            <a:r>
              <a:rPr sz="1425" b="0">
                <a:solidFill>
                  <a:srgbClr val="243447"/>
                </a:solidFill>
              </a:rPr>
              <a:t>Guardar seguimiento local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252792-755A-46B9-901D-E8BE42AB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81300"/>
            <a:ext cx="4629150" cy="22669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FF7F6"/>
          </a:solidFill>
          <a:ln xmlns:a="http://schemas.openxmlformats.org/drawingml/2006/main" w="9525">
            <a:solidFill>
              <a:srgbClr val="F5B7B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D569FF-D461-4667-88A6-97FF48ED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861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74C3C"/>
                </a:solidFill>
              </a:defRPr>
            </a:pPr>
            <a:r>
              <a:rPr sz="2100" b="1">
                <a:solidFill>
                  <a:srgbClr val="E74C3C"/>
                </a:solidFill>
              </a:rPr>
              <a:t>No busca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85C76B-C215-4FEB-A895-D6873955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14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E2"/>
          </a:solidFill>
          <a:ln xmlns:a="http://schemas.openxmlformats.org/drawingml/2006/main" w="9525">
            <a:solidFill>
              <a:srgbClr val="4A90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45774C-B8E5-41D6-B1E6-02CD619E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576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43447"/>
                </a:solidFill>
              </a:defRPr>
            </a:pPr>
            <a:r>
              <a:rPr sz="1425" b="0">
                <a:solidFill>
                  <a:srgbClr val="243447"/>
                </a:solidFill>
              </a:rPr>
              <a:t>Diagnosticar trastornos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0CA226-B494-4AC7-A55F-B6EC0B61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5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E2"/>
          </a:solidFill>
          <a:ln xmlns:a="http://schemas.openxmlformats.org/drawingml/2006/main" w="9525">
            <a:solidFill>
              <a:srgbClr val="4A90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2A0932-C060-49A5-BAA6-33F59F0B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957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43447"/>
                </a:solidFill>
              </a:defRPr>
            </a:pPr>
            <a:r>
              <a:rPr sz="1425" b="0">
                <a:solidFill>
                  <a:srgbClr val="243447"/>
                </a:solidFill>
              </a:rPr>
              <a:t>Sustituir psicoterapia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F48C7D-861E-4DF4-8D56-371B0839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91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E2"/>
          </a:solidFill>
          <a:ln xmlns:a="http://schemas.openxmlformats.org/drawingml/2006/main" w="9525">
            <a:solidFill>
              <a:srgbClr val="4A90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ADEA17-F8AA-4A79-B638-7BAA17E7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5339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43447"/>
                </a:solidFill>
              </a:defRPr>
            </a:pPr>
            <a:r>
              <a:rPr sz="1425" b="0">
                <a:solidFill>
                  <a:srgbClr val="243447"/>
                </a:solidFill>
              </a:rPr>
              <a:t>Responder emergencias por sí sola</a:t>
            </a:r>
          </a:p>
        </p:txBody>
      </p:sp>
    </p:spTree>
    <p:extLst>
      <p:ext uri="{BB962C8B-B14F-4D97-AF65-F5344CB8AC3E}">
        <p14:creationId xmlns:p14="http://schemas.microsoft.com/office/powerpoint/2010/main" val="2553226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59FE2C-4966-4AFE-93B5-08988FC0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43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8FA"/>
          </a:solidFill>
          <a:ln xmlns:a="http://schemas.openxmlformats.org/drawingml/2006/main" w="0">
            <a:solidFill>
              <a:srgbClr val="DF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98CCE-9816-4E92-8418-C2EE89C4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55816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0C5C1-E2BC-4C55-8D47-18AF2531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83"/>
                </a:solidFill>
              </a:defRPr>
            </a:pPr>
            <a:r>
              <a:rPr sz="975" b="1">
                <a:solidFill>
                  <a:srgbClr val="1F7A83"/>
                </a:solidFill>
              </a:rPr>
              <a:t>FLUJO DE USO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37539-006D-4F6C-9A55-209FF697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90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43447"/>
                </a:solidFill>
              </a:defRPr>
            </a:pPr>
            <a:r>
              <a:rPr sz="2925" b="1">
                <a:solidFill>
                  <a:srgbClr val="243447"/>
                </a:solidFill>
              </a:rPr>
              <a:t>El flujo está diseñado para orientar, intervenir brevemente y reevaluar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08622-EFD5-4F5C-BCA6-54EA7524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788A"/>
                </a:solidFill>
              </a:defRPr>
            </a:pPr>
            <a:r>
              <a:rPr sz="1650" b="0">
                <a:solidFill>
                  <a:srgbClr val="66788A"/>
                </a:solidFill>
              </a:rPr>
              <a:t>Cada paso reduce incertidumbre: primero seguridad, después estado emocional, ejercicio sugerido y seguimiento.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DC1B9-37D1-42A9-8BFB-F91D3CD5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A8B9B"/>
                </a:solidFill>
              </a:defRPr>
            </a:pPr>
            <a:r>
              <a:rPr sz="975" b="0">
                <a:solidFill>
                  <a:srgbClr val="7A8B9B"/>
                </a:solidFill>
              </a:rPr>
              <a:t>Primeros Auxilios Emocionales · Clínica Armonía de Vida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D9324-2EE8-4BD1-986C-CA59D1B7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8B9B"/>
                </a:solidFill>
              </a:defRPr>
            </a:pPr>
            <a:r>
              <a:rPr sz="975" b="1">
                <a:solidFill>
                  <a:srgbClr val="7A8B9B"/>
                </a:solidFill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008E7-0A2E-4527-A63D-F49B7F54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31051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34F86-B4B1-401F-9796-42C062B6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E2"/>
          </a:solidFill>
          <a:ln xmlns:a="http://schemas.openxmlformats.org/drawingml/2006/main" w="9525">
            <a:solidFill>
              <a:srgbClr val="4A90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16A7E-FC6E-4C77-B756-372BA3E0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24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DAD167-598E-4F82-B9F7-5322DDE4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38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447"/>
                </a:solidFill>
              </a:defRPr>
            </a:pPr>
            <a:r>
              <a:rPr sz="1650" b="1">
                <a:solidFill>
                  <a:srgbClr val="243447"/>
                </a:solidFill>
              </a:rPr>
              <a:t>Inicio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136B2F-1A75-4363-B0A0-D8412CA2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623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88A"/>
                </a:solidFill>
              </a:defRPr>
            </a:pPr>
            <a:r>
              <a:rPr sz="1125" b="0">
                <a:solidFill>
                  <a:srgbClr val="66788A"/>
                </a:solidFill>
              </a:rPr>
              <a:t>Aviso de alcance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B9FC87-2E5A-4B14-A3F6-6801507D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09850"/>
            <a:ext cx="31051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D7D111-7A93-4833-8FB8-68DCF677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38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E2"/>
          </a:solidFill>
          <a:ln xmlns:a="http://schemas.openxmlformats.org/drawingml/2006/main" w="9525">
            <a:solidFill>
              <a:srgbClr val="4A90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14085-48E9-491C-84D4-525CC91E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24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E9FA71-AF39-4698-8297-1E3D714B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38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447"/>
                </a:solidFill>
              </a:defRPr>
            </a:pPr>
            <a:r>
              <a:rPr sz="1650" b="1">
                <a:solidFill>
                  <a:srgbClr val="243447"/>
                </a:solidFill>
              </a:rPr>
              <a:t>Autoevaluación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411C57-840C-4F03-A7EE-907F3A35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623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88A"/>
                </a:solidFill>
              </a:defRPr>
            </a:pPr>
            <a:r>
              <a:rPr sz="1125" b="0">
                <a:solidFill>
                  <a:srgbClr val="66788A"/>
                </a:solidFill>
              </a:rPr>
              <a:t>Seguridad + PHQ-4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1979E4-CBBD-4B90-882E-96C41F3F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31051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7109CA-E4AE-4952-85B9-50DA45BF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38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E2"/>
          </a:solidFill>
          <a:ln xmlns:a="http://schemas.openxmlformats.org/drawingml/2006/main" w="9525">
            <a:solidFill>
              <a:srgbClr val="4A90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9CA178-4B1E-4C65-8017-DB0A97A2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24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9F7AF8-4709-496F-B737-B0BA81AE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38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447"/>
                </a:solidFill>
              </a:defRPr>
            </a:pPr>
            <a:r>
              <a:rPr sz="1650" b="1">
                <a:solidFill>
                  <a:srgbClr val="243447"/>
                </a:solidFill>
              </a:rPr>
              <a:t>Resultado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FE0A45-2FFB-4101-9295-971BE23B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623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88A"/>
                </a:solidFill>
              </a:defRPr>
            </a:pPr>
            <a:r>
              <a:rPr sz="1125" b="0">
                <a:solidFill>
                  <a:srgbClr val="66788A"/>
                </a:solidFill>
              </a:rPr>
              <a:t>Orientación no diagnóstica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819199-14CD-49D8-83B9-D3C215A1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31051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2D02CA-63BE-4185-B67C-E4518FD1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E2"/>
          </a:solidFill>
          <a:ln xmlns:a="http://schemas.openxmlformats.org/drawingml/2006/main" w="9525">
            <a:solidFill>
              <a:srgbClr val="4A90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842156-5CD8-41A3-B519-99046D70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243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9D4447-3CA8-4675-81DF-DB1D3E2D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447"/>
                </a:solidFill>
              </a:defRPr>
            </a:pPr>
            <a:r>
              <a:rPr sz="1650" b="1">
                <a:solidFill>
                  <a:srgbClr val="243447"/>
                </a:solidFill>
              </a:rPr>
              <a:t>Ejercicio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76DC5C-21C1-4948-95B7-E1CF9D15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62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88A"/>
                </a:solidFill>
              </a:defRPr>
            </a:pPr>
            <a:r>
              <a:rPr sz="1125" b="0">
                <a:solidFill>
                  <a:srgbClr val="66788A"/>
                </a:solidFill>
              </a:rPr>
              <a:t>Respiración, grounding o escritura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9DE947-9243-4A22-9E35-0D6C70BC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10050"/>
            <a:ext cx="31051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623279-4D40-43D2-8176-C6037435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38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E2"/>
          </a:solidFill>
          <a:ln xmlns:a="http://schemas.openxmlformats.org/drawingml/2006/main" w="9525">
            <a:solidFill>
              <a:srgbClr val="4A90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FB2651-D291-4E0E-A331-B025CCCB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243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08B432-2707-431F-9B8E-CBC3F299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447"/>
                </a:solidFill>
              </a:defRPr>
            </a:pPr>
            <a:r>
              <a:rPr sz="1650" b="1">
                <a:solidFill>
                  <a:srgbClr val="243447"/>
                </a:solidFill>
              </a:rPr>
              <a:t>Seguimiento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E76B7D-F7FA-4003-9482-E302783B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762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88A"/>
                </a:solidFill>
              </a:defRPr>
            </a:pPr>
            <a:r>
              <a:rPr sz="1125" b="0">
                <a:solidFill>
                  <a:srgbClr val="66788A"/>
                </a:solidFill>
              </a:rPr>
              <a:t>Antes/después + utilidad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B10FFA-C828-45C9-8E11-ADF3B339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31051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7F6"/>
          </a:solidFill>
          <a:ln xmlns:a="http://schemas.openxmlformats.org/drawingml/2006/main" w="9525">
            <a:solidFill>
              <a:srgbClr val="F5B7B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D54DB5-7CC6-42C5-88B6-20CB57EB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38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9525">
            <a:solidFill>
              <a:srgbClr val="E74C3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4A19C0-06C1-438C-A2A6-D359D27A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243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AF63A1-B0B3-497D-9AB1-64B8960F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447"/>
                </a:solidFill>
              </a:defRPr>
            </a:pPr>
            <a:r>
              <a:rPr sz="1650" b="1">
                <a:solidFill>
                  <a:srgbClr val="243447"/>
                </a:solidFill>
              </a:rPr>
              <a:t>Ayuda urgente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CFEC45-C6C6-4ACD-A6C6-C9E415BD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62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88A"/>
                </a:solidFill>
              </a:defRPr>
            </a:pPr>
            <a:r>
              <a:rPr sz="1125" b="0">
                <a:solidFill>
                  <a:srgbClr val="66788A"/>
                </a:solidFill>
              </a:rPr>
              <a:t>Salida visible si hay riesgo</a:t>
            </a:r>
          </a:p>
        </p:txBody>
      </p:sp>
    </p:spTree>
    <p:extLst>
      <p:ext uri="{BB962C8B-B14F-4D97-AF65-F5344CB8AC3E}">
        <p14:creationId xmlns:p14="http://schemas.microsoft.com/office/powerpoint/2010/main" val="3644121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DDE066-80A9-466C-B8EB-0DC88074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43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8FA"/>
          </a:solidFill>
          <a:ln xmlns:a="http://schemas.openxmlformats.org/drawingml/2006/main" w="0">
            <a:solidFill>
              <a:srgbClr val="DF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4E769-350E-4788-BA24-80641439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55816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D379A-C60F-4593-9AC8-F4E8FA13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83"/>
                </a:solidFill>
              </a:defRPr>
            </a:pPr>
            <a:r>
              <a:rPr sz="975" b="1">
                <a:solidFill>
                  <a:srgbClr val="1F7A83"/>
                </a:solidFill>
              </a:rPr>
              <a:t>CAPTURAS DE LA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BE688-AE1F-4BB6-8F57-04EFD3A3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90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43447"/>
                </a:solidFill>
              </a:defRPr>
            </a:pPr>
            <a:r>
              <a:rPr sz="2925" b="1">
                <a:solidFill>
                  <a:srgbClr val="243447"/>
                </a:solidFill>
              </a:rPr>
              <a:t>El MVP ya permite mostrar una experiencia concreta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B345D-002B-4DE0-A959-55FD305D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788A"/>
                </a:solidFill>
              </a:defRPr>
            </a:pPr>
            <a:r>
              <a:rPr sz="1650" b="0">
                <a:solidFill>
                  <a:srgbClr val="66788A"/>
                </a:solidFill>
              </a:rPr>
              <a:t>Estas pantallas ayudan al equipo a imaginar cómo se vería el uso cotidiano de la app.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B40E3-ACE9-4718-949C-2E8CB496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A8B9B"/>
                </a:solidFill>
              </a:defRPr>
            </a:pPr>
            <a:r>
              <a:rPr sz="975" b="0">
                <a:solidFill>
                  <a:srgbClr val="7A8B9B"/>
                </a:solidFill>
              </a:rPr>
              <a:t>Primeros Auxilios Emocionales · Clínica Armonía de Vida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8D238-FD94-4A63-BF7E-A22FEFD2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8B9B"/>
                </a:solidFill>
              </a:defRPr>
            </a:pPr>
            <a:r>
              <a:rPr sz="975" b="1">
                <a:solidFill>
                  <a:srgbClr val="7A8B9B"/>
                </a:solidFill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14E86-E895-463A-9A63-18AD539B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62200"/>
            <a:ext cx="1905000" cy="32575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a7bdaf6e22432f"/>
          <a:stretch xmlns:a="http://schemas.openxmlformats.org/drawingml/2006/main"/>
        </p:blipFill>
        <p:spPr>
          <a:xfrm xmlns:a="http://schemas.openxmlformats.org/drawingml/2006/main">
            <a:off x="1500985" y="2495550"/>
            <a:ext cx="1379530" cy="2990850"/>
          </a:xfrm>
          <a:prstGeom xmlns:a="http://schemas.openxmlformats.org/drawingml/2006/main" prst="roundRect">
            <a:avLst>
              <a:gd name="adj" fmla="val 909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B1D92-DCE8-4EFD-BB53-7B35ABF7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62200"/>
            <a:ext cx="1905000" cy="32575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ab35974904f75"/>
          <a:stretch xmlns:a="http://schemas.openxmlformats.org/drawingml/2006/main"/>
        </p:blipFill>
        <p:spPr>
          <a:xfrm xmlns:a="http://schemas.openxmlformats.org/drawingml/2006/main">
            <a:off x="5406235" y="2495550"/>
            <a:ext cx="1379530" cy="2990850"/>
          </a:xfrm>
          <a:prstGeom xmlns:a="http://schemas.openxmlformats.org/drawingml/2006/main" prst="roundRect">
            <a:avLst>
              <a:gd name="adj" fmla="val 9091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9A835-F942-4017-B3BC-64276532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62200"/>
            <a:ext cx="1905000" cy="32575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238bdba2644a0"/>
          <a:stretch xmlns:a="http://schemas.openxmlformats.org/drawingml/2006/main"/>
        </p:blipFill>
        <p:spPr>
          <a:xfrm xmlns:a="http://schemas.openxmlformats.org/drawingml/2006/main">
            <a:off x="9311485" y="2495550"/>
            <a:ext cx="1379530" cy="2990850"/>
          </a:xfrm>
          <a:prstGeom xmlns:a="http://schemas.openxmlformats.org/drawingml/2006/main" prst="roundRect">
            <a:avLst>
              <a:gd name="adj" fmla="val 9091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F28D58-319A-4B83-BC61-E7CAD563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578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3447"/>
                </a:solidFill>
              </a:defRPr>
            </a:pPr>
            <a:r>
              <a:rPr sz="1500" b="1">
                <a:solidFill>
                  <a:srgbClr val="243447"/>
                </a:solidFill>
              </a:rPr>
              <a:t>Inicio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16C17E-4D17-4233-B670-72B6CB68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65785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3447"/>
                </a:solidFill>
              </a:defRPr>
            </a:pPr>
            <a:r>
              <a:rPr sz="1500" b="1">
                <a:solidFill>
                  <a:srgbClr val="243447"/>
                </a:solidFill>
              </a:rPr>
              <a:t>Registro emocional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42B475-4EDB-4FC5-85B7-8F6039B3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6578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3447"/>
                </a:solidFill>
              </a:defRPr>
            </a:pPr>
            <a:r>
              <a:rPr sz="1500" b="1">
                <a:solidFill>
                  <a:srgbClr val="243447"/>
                </a:solidFill>
              </a:rPr>
              <a:t>Seguimiento</a:t>
            </a:r>
          </a:p>
        </p:txBody>
      </p:sp>
    </p:spTree>
    <p:extLst>
      <p:ext uri="{BB962C8B-B14F-4D97-AF65-F5344CB8AC3E}">
        <p14:creationId xmlns:p14="http://schemas.microsoft.com/office/powerpoint/2010/main" val="4098380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068F20-3E8A-4D37-BAE6-5DCCF797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43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8FA"/>
          </a:solidFill>
          <a:ln xmlns:a="http://schemas.openxmlformats.org/drawingml/2006/main" w="0">
            <a:solidFill>
              <a:srgbClr val="DF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CE02E-DD26-4C9B-A192-5F0F3878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55816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8CDF9-F94B-41F0-B6C7-734B63EF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83"/>
                </a:solidFill>
              </a:defRPr>
            </a:pPr>
            <a:r>
              <a:rPr sz="975" b="1">
                <a:solidFill>
                  <a:srgbClr val="1F7A83"/>
                </a:solidFill>
              </a:rPr>
              <a:t>FUNDAMENTO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C3078-23E4-43A3-B49B-B3493B4E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90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43447"/>
                </a:solidFill>
              </a:defRPr>
            </a:pPr>
            <a:r>
              <a:rPr sz="2925" b="1">
                <a:solidFill>
                  <a:srgbClr val="243447"/>
                </a:solidFill>
              </a:rPr>
              <a:t>El fundamento es breve, práctico y compatible con un enfoque humanista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41A18-3EDD-42CE-836C-D0BB7145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788A"/>
                </a:solidFill>
              </a:defRPr>
            </a:pPr>
            <a:r>
              <a:rPr sz="1650" b="0">
                <a:solidFill>
                  <a:srgbClr val="66788A"/>
                </a:solidFill>
              </a:rPr>
              <a:t>La app utiliza conceptos conocidos sin convertir el MVP en terapia digital ni diagnóstico automatizado.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6B567-0F64-4DCA-B869-C734B4EB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A8B9B"/>
                </a:solidFill>
              </a:defRPr>
            </a:pPr>
            <a:r>
              <a:rPr sz="975" b="0">
                <a:solidFill>
                  <a:srgbClr val="7A8B9B"/>
                </a:solidFill>
              </a:rPr>
              <a:t>Primeros Auxilios Emocionales · Clínica Armonía de Vida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69280-AF21-4CE1-9D1C-84329721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8B9B"/>
                </a:solidFill>
              </a:defRPr>
            </a:pPr>
            <a:r>
              <a:rPr sz="975" b="1">
                <a:solidFill>
                  <a:srgbClr val="7A8B9B"/>
                </a:solidFill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274FBE-8224-4EEB-B358-AE9B0646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46482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8E77B-8D62-46E3-B726-6532514D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718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447"/>
                </a:solidFill>
              </a:defRPr>
            </a:pPr>
            <a:r>
              <a:rPr sz="1650" b="1">
                <a:solidFill>
                  <a:srgbClr val="243447"/>
                </a:solidFill>
              </a:rPr>
              <a:t>Primeros Auxilios Psicológicos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7B8C36-93BD-44D6-9971-125BBC27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88A"/>
                </a:solidFill>
              </a:defRPr>
            </a:pPr>
            <a:r>
              <a:rPr sz="1200" b="0">
                <a:solidFill>
                  <a:srgbClr val="66788A"/>
                </a:solidFill>
              </a:rPr>
              <a:t>Seguridad, calma, apoyo práctico y conexión con recursos.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CDD868-93BA-45FB-A921-44979695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05300"/>
            <a:ext cx="46482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EC6FF2-C254-4B65-845F-66DD5738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148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447"/>
                </a:solidFill>
              </a:defRPr>
            </a:pPr>
            <a:r>
              <a:rPr sz="1650" b="1">
                <a:solidFill>
                  <a:srgbClr val="243447"/>
                </a:solidFill>
              </a:rPr>
              <a:t>Cinco principios de Hobfoll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ADA0EA-2760-4179-B839-177A06D2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88A"/>
                </a:solidFill>
              </a:defRPr>
            </a:pPr>
            <a:r>
              <a:rPr sz="1200" b="0">
                <a:solidFill>
                  <a:srgbClr val="66788A"/>
                </a:solidFill>
              </a:rPr>
              <a:t>Seguridad, calma, autoeficacia, conexión y esperanza.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0DC782-894D-47FA-B5D8-CDF8FC71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62250"/>
            <a:ext cx="46482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85F6D4-8708-4FDF-8F92-94D6AB20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718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447"/>
                </a:solidFill>
              </a:defRPr>
            </a:pPr>
            <a:r>
              <a:rPr sz="1650" b="1">
                <a:solidFill>
                  <a:srgbClr val="243447"/>
                </a:solidFill>
              </a:rPr>
              <a:t>PHQ-4 como tamizaje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82452D-611F-45A5-8292-EEE7CFE4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88A"/>
                </a:solidFill>
              </a:defRPr>
            </a:pPr>
            <a:r>
              <a:rPr sz="1200" b="0">
                <a:solidFill>
                  <a:srgbClr val="66788A"/>
                </a:solidFill>
              </a:rPr>
              <a:t>Cuatro reactivos para orientación inicial de ansiedad/depresión.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A1E99B-2DD6-4023-A9F5-6B352C7B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05300"/>
            <a:ext cx="46482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C0ED81-602D-4F2E-9C29-B46E3AE4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148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447"/>
                </a:solidFill>
              </a:defRPr>
            </a:pPr>
            <a:r>
              <a:rPr sz="1650" b="1">
                <a:solidFill>
                  <a:srgbClr val="243447"/>
                </a:solidFill>
              </a:rPr>
              <a:t>Enfoque humanista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6AE2FF-06A2-41E4-9CEB-CE816B07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768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88A"/>
                </a:solidFill>
              </a:defRPr>
            </a:pPr>
            <a:r>
              <a:rPr sz="1200" b="0">
                <a:solidFill>
                  <a:srgbClr val="66788A"/>
                </a:solidFill>
              </a:rPr>
              <a:t>Validación emocional, lenguaje empático y autonomía del usuario.</a:t>
            </a:r>
          </a:p>
        </p:txBody>
      </p:sp>
    </p:spTree>
    <p:extLst>
      <p:ext uri="{BB962C8B-B14F-4D97-AF65-F5344CB8AC3E}">
        <p14:creationId xmlns:p14="http://schemas.microsoft.com/office/powerpoint/2010/main" val="3112008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AEB4CE-37C7-44FF-8C89-9876272E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43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8FA"/>
          </a:solidFill>
          <a:ln xmlns:a="http://schemas.openxmlformats.org/drawingml/2006/main" w="0">
            <a:solidFill>
              <a:srgbClr val="DF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010E1-58D9-4D26-961E-8399A608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55816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27A96-7870-4C47-B6A7-4AA09742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83"/>
                </a:solidFill>
              </a:defRPr>
            </a:pPr>
            <a:r>
              <a:rPr sz="975" b="1">
                <a:solidFill>
                  <a:srgbClr val="1F7A83"/>
                </a:solidFill>
              </a:rPr>
              <a:t>SEGURIDAD Y ÉTICA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4107E-BF77-41B3-BFE7-BE0271D2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90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43447"/>
                </a:solidFill>
              </a:defRPr>
            </a:pPr>
            <a:r>
              <a:rPr sz="2925" b="1">
                <a:solidFill>
                  <a:srgbClr val="243447"/>
                </a:solidFill>
              </a:rPr>
              <a:t>La seguridad del usuario se plantea como parte central del diseño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0552D2-919B-441E-9C9F-448D0AE1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788A"/>
                </a:solidFill>
              </a:defRPr>
            </a:pPr>
            <a:r>
              <a:rPr sz="1650" b="0">
                <a:solidFill>
                  <a:srgbClr val="66788A"/>
                </a:solidFill>
              </a:rPr>
              <a:t>El MVP incorpora avisos de alcance, plan de seguridad breve, contacto de confianza, ayuda urgente y control de datos.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73C545-73FD-4BE7-8E83-7929C89F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A8B9B"/>
                </a:solidFill>
              </a:defRPr>
            </a:pPr>
            <a:r>
              <a:rPr sz="975" b="0">
                <a:solidFill>
                  <a:srgbClr val="7A8B9B"/>
                </a:solidFill>
              </a:rPr>
              <a:t>Primeros Auxilios Emocionales · Clínica Armonía de Vida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8C065-B99C-41C7-98F5-9B1426C6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8B9B"/>
                </a:solidFill>
              </a:defRPr>
            </a:pPr>
            <a:r>
              <a:rPr sz="975" b="1">
                <a:solidFill>
                  <a:srgbClr val="7A8B9B"/>
                </a:solidFill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4C341-D229-4B2C-945A-7D132989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47625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7F6"/>
          </a:solidFill>
          <a:ln xmlns:a="http://schemas.openxmlformats.org/drawingml/2006/main" w="9525">
            <a:solidFill>
              <a:srgbClr val="F5B7B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DAEDF-CE0A-40EC-8A16-BB71019B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051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74C3C"/>
                </a:solidFill>
              </a:defRPr>
            </a:pPr>
            <a:r>
              <a:rPr sz="1950" b="1">
                <a:solidFill>
                  <a:srgbClr val="E74C3C"/>
                </a:solidFill>
              </a:rPr>
              <a:t>Cuando hay riesgo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66E4B-C0ED-46BC-A3AA-22F03D23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52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E2"/>
          </a:solidFill>
          <a:ln xmlns:a="http://schemas.openxmlformats.org/drawingml/2006/main" w="9525">
            <a:solidFill>
              <a:srgbClr val="4A90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4C6392-DDFA-4EAD-9893-CDFD33FC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95700"/>
            <a:ext cx="3638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43447"/>
                </a:solidFill>
              </a:defRPr>
            </a:pPr>
            <a:r>
              <a:rPr sz="1350" b="0">
                <a:solidFill>
                  <a:srgbClr val="243447"/>
                </a:solidFill>
              </a:rPr>
              <a:t>Salida visible a emergencia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2D78F-ACD6-4F73-8CB9-9EF1D727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14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E2"/>
          </a:solidFill>
          <a:ln xmlns:a="http://schemas.openxmlformats.org/drawingml/2006/main" w="9525">
            <a:solidFill>
              <a:srgbClr val="4A90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0DA02B-26FF-4CAC-BAD5-FB3D32FD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57650"/>
            <a:ext cx="3638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43447"/>
                </a:solidFill>
              </a:defRPr>
            </a:pPr>
            <a:r>
              <a:rPr sz="1350" b="0">
                <a:solidFill>
                  <a:srgbClr val="243447"/>
                </a:solidFill>
              </a:rPr>
              <a:t>Línea de apoyo emocional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DC0E3D-1AC7-4283-8F9E-8FF2C22E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76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E2"/>
          </a:solidFill>
          <a:ln xmlns:a="http://schemas.openxmlformats.org/drawingml/2006/main" w="9525">
            <a:solidFill>
              <a:srgbClr val="4A90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20CBA-7CFD-4098-A043-AF346A9D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419600"/>
            <a:ext cx="3638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43447"/>
                </a:solidFill>
              </a:defRPr>
            </a:pPr>
            <a:r>
              <a:rPr sz="1350" b="0">
                <a:solidFill>
                  <a:srgbClr val="243447"/>
                </a:solidFill>
              </a:rPr>
              <a:t>Contacto de confianza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853CCC-75D7-4692-A593-854DB4D7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38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E2"/>
          </a:solidFill>
          <a:ln xmlns:a="http://schemas.openxmlformats.org/drawingml/2006/main" w="9525">
            <a:solidFill>
              <a:srgbClr val="4A90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C4F06D-0D58-4A5E-AB62-CB9B655A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81550"/>
            <a:ext cx="3638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43447"/>
                </a:solidFill>
              </a:defRPr>
            </a:pPr>
            <a:r>
              <a:rPr sz="1350" b="0">
                <a:solidFill>
                  <a:srgbClr val="243447"/>
                </a:solidFill>
              </a:rPr>
              <a:t>Plan de seguridad breve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6B17DD-6A30-43EC-B640-DA89AC1D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45720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68B297-DA21-437E-81AF-2D8A1191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05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7A83"/>
                </a:solidFill>
              </a:defRPr>
            </a:pPr>
            <a:r>
              <a:rPr sz="1950" b="1">
                <a:solidFill>
                  <a:srgbClr val="1F7A83"/>
                </a:solidFill>
              </a:rPr>
              <a:t>Cuando se usa como apoyo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8E970A-59B8-42A1-B3D7-251E6F92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52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E2"/>
          </a:solidFill>
          <a:ln xmlns:a="http://schemas.openxmlformats.org/drawingml/2006/main" w="9525">
            <a:solidFill>
              <a:srgbClr val="4A90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212AE9-FB6B-4A31-9C8E-3CC163BC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957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43447"/>
                </a:solidFill>
              </a:defRPr>
            </a:pPr>
            <a:r>
              <a:rPr sz="1350" b="0">
                <a:solidFill>
                  <a:srgbClr val="243447"/>
                </a:solidFill>
              </a:rPr>
              <a:t>Consentimiento inicial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ADC77F-B729-40D1-9F64-E1820A29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14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E2"/>
          </a:solidFill>
          <a:ln xmlns:a="http://schemas.openxmlformats.org/drawingml/2006/main" w="9525">
            <a:solidFill>
              <a:srgbClr val="4A90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CA963F-F427-40F8-B311-36887025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57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43447"/>
                </a:solidFill>
              </a:defRPr>
            </a:pPr>
            <a:r>
              <a:rPr sz="1350" b="0">
                <a:solidFill>
                  <a:srgbClr val="243447"/>
                </a:solidFill>
              </a:rPr>
              <a:t>Datos locales en el dispositivo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5C04A8-73FA-47A9-B39B-C3508335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76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E2"/>
          </a:solidFill>
          <a:ln xmlns:a="http://schemas.openxmlformats.org/drawingml/2006/main" w="9525">
            <a:solidFill>
              <a:srgbClr val="4A90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5519FD-211D-46D6-A582-1519E699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196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43447"/>
                </a:solidFill>
              </a:defRPr>
            </a:pPr>
            <a:r>
              <a:rPr sz="1350" b="0">
                <a:solidFill>
                  <a:srgbClr val="243447"/>
                </a:solidFill>
              </a:rPr>
              <a:t>Exportación y borrado de historial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464E05-F590-4A5E-B1CE-DE47F951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38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E2"/>
          </a:solidFill>
          <a:ln xmlns:a="http://schemas.openxmlformats.org/drawingml/2006/main" w="9525">
            <a:solidFill>
              <a:srgbClr val="4A90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72D412-C954-4872-9CC1-794D62AB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815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43447"/>
                </a:solidFill>
              </a:defRPr>
            </a:pPr>
            <a:r>
              <a:rPr sz="1350" b="0">
                <a:solidFill>
                  <a:srgbClr val="243447"/>
                </a:solidFill>
              </a:rPr>
              <a:t>Revisión clínica recomendada</a:t>
            </a:r>
          </a:p>
        </p:txBody>
      </p:sp>
    </p:spTree>
    <p:extLst>
      <p:ext uri="{BB962C8B-B14F-4D97-AF65-F5344CB8AC3E}">
        <p14:creationId xmlns:p14="http://schemas.microsoft.com/office/powerpoint/2010/main" val="9802648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6BEAD8-F3DD-46BE-AA22-2492CF20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43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8FA"/>
          </a:solidFill>
          <a:ln xmlns:a="http://schemas.openxmlformats.org/drawingml/2006/main" w="0">
            <a:solidFill>
              <a:srgbClr val="DF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039B2-D4FD-4AB3-B4FF-FAAAD9B7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55816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AA83E-E1A5-4912-89FA-FCB181F1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83"/>
                </a:solidFill>
              </a:defRPr>
            </a:pPr>
            <a:r>
              <a:rPr sz="975" b="1">
                <a:solidFill>
                  <a:srgbClr val="1F7A83"/>
                </a:solidFill>
              </a:rPr>
              <a:t>POSIBLE USO EN CLÍNICA ARMONÍA DE VIDA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E0320B-486C-49A5-AE03-EDB632C7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90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43447"/>
                </a:solidFill>
              </a:defRPr>
            </a:pPr>
            <a:r>
              <a:rPr sz="2925" b="1">
                <a:solidFill>
                  <a:srgbClr val="243447"/>
                </a:solidFill>
              </a:rPr>
              <a:t>La colaboración puede iniciar como un piloto pequeño y controlado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40AD8-DB75-4DA1-84A1-4B67997E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788A"/>
                </a:solidFill>
              </a:defRPr>
            </a:pPr>
            <a:r>
              <a:rPr sz="1650" b="0">
                <a:solidFill>
                  <a:srgbClr val="66788A"/>
                </a:solidFill>
              </a:rPr>
              <a:t>La clínica podría aportar retroalimentación profesional y un campo de observación para la tesis, sin comprometer un despliegue clínico amplio de entrada.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7DA03-C890-4E37-889E-C67FEA54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A8B9B"/>
                </a:solidFill>
              </a:defRPr>
            </a:pPr>
            <a:r>
              <a:rPr sz="975" b="0">
                <a:solidFill>
                  <a:srgbClr val="7A8B9B"/>
                </a:solidFill>
              </a:rPr>
              <a:t>Primeros Auxilios Emocionales · Clínica Armonía de Vida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9316E-F907-477F-9438-3213914B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8B9B"/>
                </a:solidFill>
              </a:defRPr>
            </a:pPr>
            <a:r>
              <a:rPr sz="975" b="1">
                <a:solidFill>
                  <a:srgbClr val="7A8B9B"/>
                </a:solidFill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BE8807-A3CD-47A0-B355-4F312BE0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6860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E2"/>
          </a:solidFill>
          <a:ln xmlns:a="http://schemas.openxmlformats.org/drawingml/2006/main" w="9525">
            <a:solidFill>
              <a:srgbClr val="4A90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738DA-51F5-4F3B-9D6B-E4687EE0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33700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7500A-F864-4C14-9E96-04A3BBE2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3447"/>
                </a:solidFill>
              </a:defRPr>
            </a:pPr>
            <a:r>
              <a:rPr sz="1800" b="1">
                <a:solidFill>
                  <a:srgbClr val="243447"/>
                </a:solidFill>
              </a:rPr>
              <a:t>Psicólogos y personal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1E9333-D553-4288-96CA-56A52925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990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88A"/>
                </a:solidFill>
              </a:defRPr>
            </a:pPr>
            <a:r>
              <a:rPr sz="1275" b="0">
                <a:solidFill>
                  <a:srgbClr val="66788A"/>
                </a:solidFill>
              </a:rPr>
              <a:t>Revisan contenido, límites, lenguaje y utilidad práctica.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156301-53F5-4FAC-ADDC-DA80506E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860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6DF"/>
          </a:solidFill>
          <a:ln xmlns:a="http://schemas.openxmlformats.org/drawingml/2006/main" w="9525">
            <a:solidFill>
              <a:srgbClr val="7E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6BFB7E-7FE7-42D1-8669-4C68C17C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33700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47BB5-94EA-4FF5-8097-784B573D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0050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3447"/>
                </a:solidFill>
              </a:defRPr>
            </a:pPr>
            <a:r>
              <a:rPr sz="1800" b="1">
                <a:solidFill>
                  <a:srgbClr val="243447"/>
                </a:solidFill>
              </a:rPr>
              <a:t>Pacientes participantes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FBB387-6CDB-4368-BCA4-682E3494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38650"/>
            <a:ext cx="2990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88A"/>
                </a:solidFill>
              </a:defRPr>
            </a:pPr>
            <a:r>
              <a:rPr sz="1275" b="0">
                <a:solidFill>
                  <a:srgbClr val="66788A"/>
                </a:solidFill>
              </a:rPr>
              <a:t>Prueban ejercicios y seguimiento bajo criterios definidos por la clínica.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5D2E8F-9233-4123-B292-E50BD2DC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860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1FF"/>
          </a:solidFill>
          <a:ln xmlns:a="http://schemas.openxmlformats.org/drawingml/2006/main" w="9525">
            <a:solidFill>
              <a:srgbClr val="EFF1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32F320-D758-46EE-B465-A4A39754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933700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F7A83"/>
                </a:solidFill>
              </a:defRPr>
            </a:pPr>
            <a:r>
              <a:rPr sz="2850" b="1">
                <a:solidFill>
                  <a:srgbClr val="1F7A8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B42B14-12B9-4A79-B77E-00ACA121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0050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3447"/>
                </a:solidFill>
              </a:defRPr>
            </a:pPr>
            <a:r>
              <a:rPr sz="1800" b="1">
                <a:solidFill>
                  <a:srgbClr val="243447"/>
                </a:solidFill>
              </a:rPr>
              <a:t>Proyecto de tesis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CB4417-FF5D-4487-8C8F-682D867C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38650"/>
            <a:ext cx="2990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88A"/>
                </a:solidFill>
              </a:defRPr>
            </a:pPr>
            <a:r>
              <a:rPr sz="1275" b="0">
                <a:solidFill>
                  <a:srgbClr val="66788A"/>
                </a:solidFill>
              </a:rPr>
              <a:t>Analiza utilidad percibida y cambio inmediato antes/después.</a:t>
            </a:r>
          </a:p>
        </p:txBody>
      </p:sp>
    </p:spTree>
    <p:extLst>
      <p:ext uri="{BB962C8B-B14F-4D97-AF65-F5344CB8AC3E}">
        <p14:creationId xmlns:p14="http://schemas.microsoft.com/office/powerpoint/2010/main" val="16630977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C0FAA9-3DF1-460A-9700-F9567C63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43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8FA"/>
          </a:solidFill>
          <a:ln xmlns:a="http://schemas.openxmlformats.org/drawingml/2006/main" w="0">
            <a:solidFill>
              <a:srgbClr val="DF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567A3-A6AE-450F-8357-16D9118F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55816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B4B39-817A-4D90-8010-E97F5558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7A83"/>
                </a:solidFill>
              </a:defRPr>
            </a:pPr>
            <a:r>
              <a:rPr sz="975" b="1">
                <a:solidFill>
                  <a:srgbClr val="1F7A83"/>
                </a:solidFill>
              </a:rPr>
              <a:t>SIGUIENTES PASOS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BC60A-91B9-4742-A7C6-D69B81E3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90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43447"/>
                </a:solidFill>
              </a:defRPr>
            </a:pPr>
            <a:r>
              <a:rPr sz="2925" b="1">
                <a:solidFill>
                  <a:srgbClr val="243447"/>
                </a:solidFill>
              </a:rPr>
              <a:t>La siguiente conversación puede definir si vale la pena pilotearla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585F2-47B5-4194-BA6E-11EFC1BC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788A"/>
                </a:solidFill>
              </a:defRPr>
            </a:pPr>
            <a:r>
              <a:rPr sz="1650" b="0">
                <a:solidFill>
                  <a:srgbClr val="66788A"/>
                </a:solidFill>
              </a:rPr>
              <a:t>La reunión presencial serviría para revisar alcance, criterios éticos, retroalimentación clínica y una ruta de prueba realista.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C935F-9D84-4EC6-9752-EEBDEDE0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A8B9B"/>
                </a:solidFill>
              </a:defRPr>
            </a:pPr>
            <a:r>
              <a:rPr sz="975" b="0">
                <a:solidFill>
                  <a:srgbClr val="7A8B9B"/>
                </a:solidFill>
              </a:rPr>
              <a:t>Primeros Auxilios Emocionales · Clínica Armonía de Vida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D03B4-BFA0-4141-9F27-DDC4836E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8B9B"/>
                </a:solidFill>
              </a:defRPr>
            </a:pPr>
            <a:r>
              <a:rPr sz="975" b="1">
                <a:solidFill>
                  <a:srgbClr val="7A8B9B"/>
                </a:solidFill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9718FC-F94D-4E4E-92BA-D2A953C2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81300"/>
            <a:ext cx="96012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3E852-000E-427E-B8BF-6CCD4637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E2"/>
          </a:solidFill>
          <a:ln xmlns:a="http://schemas.openxmlformats.org/drawingml/2006/main" w="9525">
            <a:solidFill>
              <a:srgbClr val="4A90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8D1D81-B252-496D-B127-E74FE4C8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147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64F17-51DE-4646-8942-EB0AB4E5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3860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3447"/>
                </a:solidFill>
              </a:defRPr>
            </a:pPr>
            <a:r>
              <a:rPr sz="1350" b="1">
                <a:solidFill>
                  <a:srgbClr val="243447"/>
                </a:solidFill>
              </a:rPr>
              <a:t>Presentar al equipo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3F46FD-C015-41A6-9C79-E70EBD4B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956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7ED6DF"/>
                </a:solidFill>
              </a:defRPr>
            </a:pPr>
            <a:r>
              <a:rPr sz="2400" b="1">
                <a:solidFill>
                  <a:srgbClr val="7ED6DF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46D1F-37BA-4491-9982-B0BD0B29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81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E2"/>
          </a:solidFill>
          <a:ln xmlns:a="http://schemas.openxmlformats.org/drawingml/2006/main" w="9525">
            <a:solidFill>
              <a:srgbClr val="4A90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79D66C-1353-48C2-A4D7-5CC3CC36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147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5E7CA4-FBA4-4832-B3F8-76FA45D9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03860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3447"/>
                </a:solidFill>
              </a:defRPr>
            </a:pPr>
            <a:r>
              <a:rPr sz="1350" b="1">
                <a:solidFill>
                  <a:srgbClr val="243447"/>
                </a:solidFill>
              </a:rPr>
              <a:t>Recibir retroalimentación clínica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A5CBE-0F21-4DBD-AC40-59BB594D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956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7ED6DF"/>
                </a:solidFill>
              </a:defRPr>
            </a:pPr>
            <a:r>
              <a:rPr sz="2400" b="1">
                <a:solidFill>
                  <a:srgbClr val="7ED6DF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C1ADA5-AEB0-4317-BBDC-D352942D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81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E2"/>
          </a:solidFill>
          <a:ln xmlns:a="http://schemas.openxmlformats.org/drawingml/2006/main" w="9525">
            <a:solidFill>
              <a:srgbClr val="4A90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32754D-5BFA-4AD1-8948-E0100CEE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147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B18918-7EA3-4478-AD74-99588B12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03860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3447"/>
                </a:solidFill>
              </a:defRPr>
            </a:pPr>
            <a:r>
              <a:rPr sz="1350" b="1">
                <a:solidFill>
                  <a:srgbClr val="243447"/>
                </a:solidFill>
              </a:rPr>
              <a:t>Definir condiciones de piloto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E1C148-5C12-4811-B4D8-3770BA79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956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7ED6DF"/>
                </a:solidFill>
              </a:defRPr>
            </a:pPr>
            <a:r>
              <a:rPr sz="2400" b="1">
                <a:solidFill>
                  <a:srgbClr val="7ED6DF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379EBC-E061-4A33-8347-60DCC608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81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83"/>
          </a:solidFill>
          <a:ln xmlns:a="http://schemas.openxmlformats.org/drawingml/2006/main" w="9525">
            <a:solidFill>
              <a:srgbClr val="1F7A8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9C0850-626D-4B9E-8587-121F3244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147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2DB96C-77CF-42BC-8C53-60532F0D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3860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3447"/>
                </a:solidFill>
              </a:defRPr>
            </a:pPr>
            <a:r>
              <a:rPr sz="1350" b="1">
                <a:solidFill>
                  <a:srgbClr val="243447"/>
                </a:solidFill>
              </a:rPr>
              <a:t>Acordar reunión y ajustes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0171C8-405E-4ECF-A346-EAC442C2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334000"/>
            <a:ext cx="746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7A83"/>
                </a:solidFill>
              </a:defRPr>
            </a:pPr>
            <a:r>
              <a:rPr sz="2100" b="1">
                <a:solidFill>
                  <a:srgbClr val="1F7A83"/>
                </a:solidFill>
              </a:rPr>
              <a:t>Gracias por considerar esta propuesta.</a:t>
            </a:r>
          </a:p>
        </p:txBody>
      </p:sp>
    </p:spTree>
    <p:extLst>
      <p:ext uri="{BB962C8B-B14F-4D97-AF65-F5344CB8AC3E}">
        <p14:creationId xmlns:p14="http://schemas.microsoft.com/office/powerpoint/2010/main" val="388665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2026-09-02T14:30:25.2230000Z</dcterms:created>
  <dcterms:modified xsi:type="dcterms:W3CDTF">2026-09-02T14:30:25.2230000Z</dcterms:modified>
</coreProperties>
</file>